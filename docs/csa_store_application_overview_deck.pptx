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67042"/>
          </a:solidFill>
          <a:ln w="12700">
            <a:solidFill>
              <a:srgbClr val="66704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5059375" cy="6858000"/>
          </a:xfrm>
          <a:prstGeom prst="rect">
            <a:avLst/>
          </a:prstGeom>
          <a:solidFill>
            <a:srgbClr val="8D9475"/>
          </a:solidFill>
          <a:ln w="12700">
            <a:solidFill>
              <a:srgbClr val="8D947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972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CSA Store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What it does now, where it is going, and why it pays for itself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5394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2D5"/>
                </a:solidFill>
              </a:rPr>
              <a:t>Deck Family Farm / Full Farm CSA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5715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2D5"/>
                </a:solidFill>
              </a:rPr>
              <a:t>May 14,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26680" y="12801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Objective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0" y="1691640"/>
            <a:ext cx="384048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Consolidate operations into one interface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subscriptions, pricing, analytics, and marketing control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platform the farm can actually own and steer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7042"/>
          </a:solidFill>
          <a:ln w="12700">
            <a:solidFill>
              <a:srgbClr val="6670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CSA Store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3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6535D"/>
                </a:solidFill>
              </a:rPr>
              <a:t>Today’s workflow is spread across several systems and manual handoffs.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698480" cy="4754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Wix portal front-end and Wix CMS tables handle customer-facing pieces.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Zapier hooks move data between tools.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Line remains the core storefront backend.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Node.js scripts fill reporting and operational gaps.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Sheets still carries part of the customer and operations load.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duplicated work, weaker attribution, brittle reporting, and slower changes.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543800" y="434340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8F2E2B"/>
          </a:solidFill>
          <a:ln w="12700">
            <a:solidFill>
              <a:srgbClr val="8F2E2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08392" y="447141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Current stack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08392" y="4754880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6+ moving parts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646920" y="4343400"/>
            <a:ext cx="1920240" cy="1097280"/>
          </a:xfrm>
          <a:prstGeom prst="roundRect">
            <a:avLst>
              <a:gd name="adj" fmla="val 6667"/>
            </a:avLst>
          </a:prstGeom>
          <a:solidFill>
            <a:srgbClr val="667042"/>
          </a:solidFill>
          <a:ln w="12700">
            <a:solidFill>
              <a:srgbClr val="66704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11512" y="447141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Operating pattern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11512" y="4754880"/>
            <a:ext cx="1591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Scotch-tape ecosystem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644652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6535D"/>
                </a:solidFill>
              </a:rPr>
              <a:t>Deck Family Farm | Full Farm CSA | DigitalOcean-hosted CSA Store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7042"/>
          </a:solidFill>
          <a:ln w="12700">
            <a:solidFill>
              <a:srgbClr val="6670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CSA Store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3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CSA Store does now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6535D"/>
                </a:solidFill>
              </a:rPr>
              <a:t>The application already functions as an operating layer around Local Line, subscriptions, and reporting.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698480" cy="4754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Pulls Local Line products, orders, fulfillments, and subscriber snapshots into one local admin.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Applies consistent pricing controls and formula-pricing rules from one place.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Tracks drop-site performance, trends, and order behavior.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Publishes operational dashboards and Google outputs from local data.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a local subscribe page with lead capture, agreement handling, and nearest drop-site / home-delivery guidance.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Manages subscription leads in admin with status, notes, and signed records.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6535D"/>
                </a:solidFill>
              </a:rPr>
              <a:t>Deck Family Farm | Full Farm CSA | DigitalOcean-hosted CSA Store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7042"/>
          </a:solidFill>
          <a:ln w="12700">
            <a:solidFill>
              <a:srgbClr val="6670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CSA Store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3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one interface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6535D"/>
                </a:solidFill>
              </a:rPr>
              <a:t>Consolidation is not just cleaner architecture; it creates operating leverage.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698480" cy="4754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source of truth for pricing, subscriptions, analytics, and operations.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reliance on Wix CMS tables, Zapier glue, standalone scripts, and Google Sheet workarounds.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changes because the team edits one application instead of coordinating several tools.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Clearer control over pricing, customer conversion, reporting, and advertising efficiency.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platform that can keep expanding instead of adding another side tool each time a gap appears.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6535D"/>
                </a:solidFill>
              </a:rPr>
              <a:t>Deck Family Farm | Full Farm CSA | DigitalOcean-hosted CSA Store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7042"/>
          </a:solidFill>
          <a:ln w="12700">
            <a:solidFill>
              <a:srgbClr val="6670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CSA Store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3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want it to do next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6535D"/>
                </a:solidFill>
              </a:rPr>
              <a:t>The goal is vertical control of the system on a DigitalOcean-hosted application.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698480" cy="4754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remaining stitched-together workflows with one interface.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subscriptions more efficient: capture leads, match people to nearest drop site or delivery, and track status through conversion.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marketing attribution: campaigns, tracked links, subscriber source tracking, and location-aware analytics.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better member lifecycle tools for retention, communication, and cleaner customer records.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Codex-assisted design and iteration to improve the platform quickly without fragmenting the stack further.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863840" y="457200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667042"/>
          </a:solidFill>
          <a:ln w="12700">
            <a:solidFill>
              <a:srgbClr val="66704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28432" y="470001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End goal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28432" y="498348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Operate the system in one place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6535D"/>
                </a:solidFill>
              </a:rPr>
              <a:t>Deck Family Farm | Full Farm CSA | DigitalOcean-hosted CSA Store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7042"/>
          </a:solidFill>
          <a:ln w="12700">
            <a:solidFill>
              <a:srgbClr val="6670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CSA Store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3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ROI: direct cost savings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6535D"/>
                </a:solidFill>
              </a:rPr>
              <a:t>The current tool stack carries recurring cost before counting lost efficiency.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8138160" cy="411480"/>
          </a:xfrm>
          <a:prstGeom prst="roundRect">
            <a:avLst>
              <a:gd name="adj" fmla="val 4444"/>
            </a:avLst>
          </a:prstGeom>
          <a:solidFill>
            <a:srgbClr val="667042"/>
          </a:solidFill>
          <a:ln w="12700">
            <a:solidFill>
              <a:srgbClr val="66704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5806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Current annual tools and support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17830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Annual cost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8138160" cy="411480"/>
          </a:xfrm>
          <a:prstGeom prst="rect">
            <a:avLst/>
          </a:prstGeom>
          <a:solidFill>
            <a:srgbClr val="FBF8F0"/>
          </a:solidFill>
          <a:ln w="12700">
            <a:solidFill>
              <a:srgbClr val="D9D3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194560"/>
            <a:ext cx="5806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303A"/>
                </a:solidFill>
              </a:rPr>
              <a:t>Local Line subscription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21945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303A"/>
                </a:solidFill>
              </a:rPr>
              <a:t>$2,500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514600"/>
            <a:ext cx="8138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06040"/>
            <a:ext cx="5806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303A"/>
                </a:solidFill>
              </a:rPr>
              <a:t>Wix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260604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303A"/>
                </a:solidFill>
              </a:rPr>
              <a:t>$1,500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2926080"/>
            <a:ext cx="8138160" cy="411480"/>
          </a:xfrm>
          <a:prstGeom prst="rect">
            <a:avLst/>
          </a:prstGeom>
          <a:solidFill>
            <a:srgbClr val="FBF8F0"/>
          </a:solidFill>
          <a:ln w="12700">
            <a:solidFill>
              <a:srgbClr val="D9D3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017520"/>
            <a:ext cx="5806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303A"/>
                </a:solidFill>
              </a:rPr>
              <a:t>Biocode script support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301752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303A"/>
                </a:solidFill>
              </a:rPr>
              <a:t>$5,000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337560"/>
            <a:ext cx="8138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429000"/>
            <a:ext cx="5806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303A"/>
                </a:solidFill>
              </a:rPr>
              <a:t>Wix design help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34290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303A"/>
                </a:solidFill>
              </a:rPr>
              <a:t>$1,000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3749040"/>
            <a:ext cx="8138160" cy="411480"/>
          </a:xfrm>
          <a:prstGeom prst="rect">
            <a:avLst/>
          </a:prstGeom>
          <a:solidFill>
            <a:srgbClr val="FBF8F0"/>
          </a:solidFill>
          <a:ln w="12700">
            <a:solidFill>
              <a:srgbClr val="D9D3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840480"/>
            <a:ext cx="5806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303A"/>
                </a:solidFill>
              </a:rPr>
              <a:t>Current annual total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384048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303A"/>
                </a:solidFill>
              </a:rPr>
              <a:t>$10,000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4160520"/>
            <a:ext cx="8138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251960"/>
            <a:ext cx="5806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303A"/>
                </a:solidFill>
              </a:rPr>
              <a:t>Target Biocode maintenance for CSA Store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425196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303A"/>
                </a:solidFill>
              </a:rPr>
              <a:t>$5,000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7240" y="4572000"/>
            <a:ext cx="8138160" cy="411480"/>
          </a:xfrm>
          <a:prstGeom prst="rect">
            <a:avLst/>
          </a:prstGeom>
          <a:solidFill>
            <a:srgbClr val="FBF8F0"/>
          </a:solidFill>
          <a:ln w="12700">
            <a:solidFill>
              <a:srgbClr val="D9D3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663440"/>
            <a:ext cx="5806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303A"/>
                </a:solidFill>
              </a:rPr>
              <a:t>Direct annual savings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466344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303A"/>
                </a:solidFill>
              </a:rPr>
              <a:t>$5,000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732520" y="219456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8F2E2B"/>
          </a:solidFill>
          <a:ln w="12700">
            <a:solidFill>
              <a:srgbClr val="8F2E2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97112" y="2322576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Direct savings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97112" y="2606040"/>
            <a:ext cx="2231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$5K / year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40080" y="644652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6535D"/>
                </a:solidFill>
              </a:rPr>
              <a:t>Deck Family Farm | Full Farm CSA | DigitalOcean-hosted CSA Store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7042"/>
          </a:solidFill>
          <a:ln w="12700">
            <a:solidFill>
              <a:srgbClr val="6670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CSA Store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3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ROI: conversion and retention upside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6535D"/>
                </a:solidFill>
              </a:rPr>
              <a:t>Better subscription tools create value even before marketing optimization.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69848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assumption: about 150 members leave each year and about 150 new members come in.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better portal design and subscription tools improve new intake by 5% and retention by 5%, the business gains about 30 additional members per year.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annual value of those 30 members: about $28,800.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4389120"/>
            <a:ext cx="3474720" cy="1097280"/>
          </a:xfrm>
          <a:prstGeom prst="roundRect">
            <a:avLst>
              <a:gd name="adj" fmla="val 6667"/>
            </a:avLst>
          </a:prstGeom>
          <a:solidFill>
            <a:srgbClr val="667042"/>
          </a:solidFill>
          <a:ln w="12700">
            <a:solidFill>
              <a:srgbClr val="66704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4517136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Member upside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8992" y="4800600"/>
            <a:ext cx="31455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30 additional members / year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663440" y="4389120"/>
            <a:ext cx="2834640" cy="1097280"/>
          </a:xfrm>
          <a:prstGeom prst="roundRect">
            <a:avLst>
              <a:gd name="adj" fmla="val 6667"/>
            </a:avLst>
          </a:prstGeom>
          <a:solidFill>
            <a:srgbClr val="8F2E2B"/>
          </a:solidFill>
          <a:ln w="12700">
            <a:solidFill>
              <a:srgbClr val="8F2E2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4517136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Estimated value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28032" y="4800600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$28.8K / year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" y="5806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6535D"/>
                </a:solidFill>
              </a:rPr>
              <a:t>This includes the value of better customer conversion and reduced churn from a cleaner member experience.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6535D"/>
                </a:solidFill>
              </a:rPr>
              <a:t>Deck Family Farm | Full Farm CSA | DigitalOcean-hosted CSA Store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7042"/>
          </a:solidFill>
          <a:ln w="12700">
            <a:solidFill>
              <a:srgbClr val="6670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CSA Store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3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ROI: pricing and margin control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6535D"/>
                </a:solidFill>
              </a:rPr>
              <a:t>Centralized pricing control creates profit leverage.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69848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application already centralizes price controls instead of scattering them across side tools.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formula pricing, cleaner review, and less inconsistency improve margin discipline.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a 2% improvement in markup management is estimated to produce more than $10,000 in annual net profit.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labor savings; it is direct operating value from better business control.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60520" y="448056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C89D4F"/>
          </a:solidFill>
          <a:ln w="12700">
            <a:solidFill>
              <a:srgbClr val="C89D4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4608576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Pricing upside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25112" y="4892040"/>
            <a:ext cx="3419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&gt; $10K / year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6535D"/>
                </a:solidFill>
              </a:rPr>
              <a:t>Deck Family Farm | Full Farm CSA | DigitalOcean-hosted CSA Store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7042"/>
          </a:solidFill>
          <a:ln w="12700">
            <a:solidFill>
              <a:srgbClr val="6670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CSA Store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3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Marketing and attribution value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6535D"/>
                </a:solidFill>
              </a:rPr>
              <a:t>The next phase is not just ad tracking; it is better allocation of spend and message.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69848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Today, campaign performance and subscriber attribution are weak because the stack is fragmented.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planned marketing module would connect campaigns, tracked links, subscriber capture, drop-site demand, and spend decisions.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improves the ability to answer: where should we spend, which message belongs on which channel, and which locations are responding?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value is real, but it is not included in the base ROI math here.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069080" y="452628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667042"/>
          </a:solidFill>
          <a:ln w="12700">
            <a:solidFill>
              <a:srgbClr val="66704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33672" y="4654296"/>
            <a:ext cx="3694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yet counted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33672" y="4937760"/>
            <a:ext cx="3694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Advertising efficiency upside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6535D"/>
                </a:solidFill>
              </a:rPr>
              <a:t>Deck Family Farm | Full Farm CSA | DigitalOcean-hosted CSA Store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7042"/>
          </a:solidFill>
          <a:ln w="12700">
            <a:solidFill>
              <a:srgbClr val="6670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CSA Store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3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Annual value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6535D"/>
                </a:solidFill>
              </a:rPr>
              <a:t>Base ROI case before additional marketing upside.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8321040" cy="475488"/>
          </a:xfrm>
          <a:prstGeom prst="roundRect">
            <a:avLst>
              <a:gd name="adj" fmla="val 3846"/>
            </a:avLst>
          </a:prstGeom>
          <a:solidFill>
            <a:srgbClr val="667042"/>
          </a:solidFill>
          <a:ln w="12700">
            <a:solidFill>
              <a:srgbClr val="66704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5806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Source of value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03720" y="187452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Annual value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258568"/>
            <a:ext cx="8321040" cy="475488"/>
          </a:xfrm>
          <a:prstGeom prst="rect">
            <a:avLst/>
          </a:prstGeom>
          <a:solidFill>
            <a:srgbClr val="FBF8F0"/>
          </a:solidFill>
          <a:ln w="12700">
            <a:solidFill>
              <a:srgbClr val="D9D3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350008"/>
            <a:ext cx="5806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303A"/>
                </a:solidFill>
              </a:rPr>
              <a:t>Direct software / support savings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03720" y="235000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303A"/>
                </a:solidFill>
              </a:rPr>
              <a:t>$5,000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734056"/>
            <a:ext cx="8321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825496"/>
            <a:ext cx="5806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303A"/>
                </a:solidFill>
              </a:rPr>
              <a:t>Conversion and retention upside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03720" y="282549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303A"/>
                </a:solidFill>
              </a:rPr>
              <a:t>$28,800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209544"/>
            <a:ext cx="8321040" cy="475488"/>
          </a:xfrm>
          <a:prstGeom prst="rect">
            <a:avLst/>
          </a:prstGeom>
          <a:solidFill>
            <a:srgbClr val="FBF8F0"/>
          </a:solidFill>
          <a:ln w="12700">
            <a:solidFill>
              <a:srgbClr val="D9D3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300984"/>
            <a:ext cx="5806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303A"/>
                </a:solidFill>
              </a:rPr>
              <a:t>Pricing and margin upside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03720" y="330098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1303A"/>
                </a:solidFill>
              </a:rPr>
              <a:t>&gt;$10,000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685032"/>
            <a:ext cx="8321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3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776472"/>
            <a:ext cx="5806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303A"/>
                </a:solidFill>
              </a:rPr>
              <a:t>Total identified annual value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377647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303A"/>
                </a:solidFill>
              </a:rPr>
              <a:t>&gt;$43,800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06840" y="210312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46535D"/>
          </a:solidFill>
          <a:ln w="12700">
            <a:solidFill>
              <a:srgbClr val="46535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71432" y="223113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Annual maintenance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71432" y="251460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$5K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006840" y="34290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667042"/>
          </a:solidFill>
          <a:ln w="12700">
            <a:solidFill>
              <a:srgbClr val="66704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71432" y="355701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Gross benefit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71432" y="384048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&gt;$43.8K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9006840" y="47548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8F2E2B"/>
          </a:solidFill>
          <a:ln w="12700">
            <a:solidFill>
              <a:srgbClr val="8F2E2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71432" y="4882896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ROI multiple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71432" y="5166360"/>
            <a:ext cx="1591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&gt;8x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40080" y="644652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6535D"/>
                </a:solidFill>
              </a:rPr>
              <a:t>Deck Family Farm | Full Farm CSA | DigitalOcean-hosted CSA Store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667042"/>
          </a:solidFill>
          <a:ln w="12700">
            <a:solidFill>
              <a:srgbClr val="6670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CSA Store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30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 goal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6535D"/>
                </a:solidFill>
              </a:rPr>
              <a:t>Move from stitched-together operations to one controllable platform.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698480" cy="4754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 subscriptions, pricing, analytics, customer workflows, and marketing in one place.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reliance on fragile handoffs between Wix, Zapier, scripts, Local Line, and Google Sheets.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the farm a platform it can improve, own, and operate deliberately over time.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21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Codex-assisted design and iteration to keep improving workflow and business intelligence instead of paying for fragmented fixes.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6446520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6535D"/>
                </a:solidFill>
              </a:rPr>
              <a:t>CSA Store target state | One operating platform instead of many stitched-together tools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Deck Family Farm / Full Farm CSA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 Store Application Overview</dc:title>
  <dc:subject>CSA Store application overview and ROI</dc:subject>
  <dc:creator>OpenAI Codex</dc:creator>
  <cp:lastModifiedBy>OpenAI Codex</cp:lastModifiedBy>
  <cp:revision>1</cp:revision>
  <dcterms:created xsi:type="dcterms:W3CDTF">2026-05-14T12:48:09Z</dcterms:created>
  <dcterms:modified xsi:type="dcterms:W3CDTF">2026-05-14T12:48:09Z</dcterms:modified>
</cp:coreProperties>
</file>